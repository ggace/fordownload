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9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0" r:id="rId14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48" autoAdjust="0"/>
  </p:normalViewPr>
  <p:slideViewPr>
    <p:cSldViewPr snapToGrid="0">
      <p:cViewPr varScale="1">
        <p:scale>
          <a:sx n="58" d="100"/>
          <a:sy n="58" d="100"/>
        </p:scale>
        <p:origin x="90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3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ko-KR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Who is programmers?</a:t>
          </a:r>
          <a:endParaRPr lang="ko-KR" altLang="en-US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ko-KR" altLang="en-US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ko-KR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How many types of programmers?</a:t>
          </a:r>
          <a:endParaRPr lang="ko-KR" altLang="en-US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ko-KR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What can they use?</a:t>
          </a:r>
          <a:endParaRPr lang="ko-KR" altLang="en-US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CB7FBF00-422A-4317-B891-E8DD1AF28699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ko-KR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The advantages of coding</a:t>
          </a:r>
          <a:endParaRPr lang="ko-KR" altLang="en-US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gm:t>
    </dgm:pt>
    <dgm:pt modelId="{63A354B8-D587-4CE1-AAEF-7D831536B2AB}" type="parTrans" cxnId="{0AF4D1C5-A6F7-42DD-A508-BFBDA25CDABE}">
      <dgm:prSet/>
      <dgm:spPr/>
      <dgm:t>
        <a:bodyPr/>
        <a:lstStyle/>
        <a:p>
          <a:pPr latinLnBrk="1"/>
          <a:endParaRPr lang="ko-KR" altLang="en-US"/>
        </a:p>
      </dgm:t>
    </dgm:pt>
    <dgm:pt modelId="{D9015B3D-0037-476C-BFFC-C20A6F79AA13}" type="sibTrans" cxnId="{0AF4D1C5-A6F7-42DD-A508-BFBDA25CDABE}">
      <dgm:prSet/>
      <dgm:spPr/>
      <dgm:t>
        <a:bodyPr/>
        <a:lstStyle/>
        <a:p>
          <a:pPr latinLnBrk="1"/>
          <a:endParaRPr lang="ko-KR" altLang="en-US"/>
        </a:p>
      </dgm:t>
    </dgm:pt>
    <dgm:pt modelId="{798C6FD2-1E4F-49E2-849D-E41E5E8A5D85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ko-KR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What I want to say</a:t>
          </a:r>
          <a:endParaRPr lang="ko-KR" altLang="en-US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gm:t>
    </dgm:pt>
    <dgm:pt modelId="{2A259A07-05C7-4ABF-9497-06A23DAC291A}" type="parTrans" cxnId="{D8B979C0-D29D-4D73-9BC5-427F3ABA6E3C}">
      <dgm:prSet/>
      <dgm:spPr/>
      <dgm:t>
        <a:bodyPr/>
        <a:lstStyle/>
        <a:p>
          <a:pPr latinLnBrk="1"/>
          <a:endParaRPr lang="ko-KR" altLang="en-US"/>
        </a:p>
      </dgm:t>
    </dgm:pt>
    <dgm:pt modelId="{DC26FD2F-93B6-4A1C-8B76-D98BF45CF70D}" type="sibTrans" cxnId="{D8B979C0-D29D-4D73-9BC5-427F3ABA6E3C}">
      <dgm:prSet/>
      <dgm:spPr/>
      <dgm:t>
        <a:bodyPr/>
        <a:lstStyle/>
        <a:p>
          <a:pPr latinLnBrk="1"/>
          <a:endParaRPr lang="ko-KR" alt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58319267-C71E-43C9-94E1-827D0616C7A7}" type="pres">
      <dgm:prSet presAssocID="{6750AC01-D39D-4F3A-9DC8-2A211EE986A2}" presName="text_1" presStyleLbl="node1" presStyleIdx="0" presStyleCnt="5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5"/>
      <dgm:spPr/>
    </dgm:pt>
    <dgm:pt modelId="{95DE6538-27BD-44AF-A1A8-CA8F6B10FDD2}" type="pres">
      <dgm:prSet presAssocID="{0BEF68B8-1228-47BB-83B5-7B9CD1E3F84E}" presName="text_2" presStyleLbl="node1" presStyleIdx="1" presStyleCnt="5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5"/>
      <dgm:spPr/>
    </dgm:pt>
    <dgm:pt modelId="{E131CE4A-9776-44F4-BC03-867682E21374}" type="pres">
      <dgm:prSet presAssocID="{5605D28D-2CE6-4513-8566-952984E21E14}" presName="text_3" presStyleLbl="node1" presStyleIdx="2" presStyleCnt="5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5"/>
      <dgm:spPr/>
    </dgm:pt>
    <dgm:pt modelId="{20B37385-1A26-47E7-A858-D56C8597648F}" type="pres">
      <dgm:prSet presAssocID="{CB7FBF00-422A-4317-B891-E8DD1AF28699}" presName="text_4" presStyleLbl="node1" presStyleIdx="3" presStyleCnt="5">
        <dgm:presLayoutVars>
          <dgm:bulletEnabled val="1"/>
        </dgm:presLayoutVars>
      </dgm:prSet>
      <dgm:spPr/>
    </dgm:pt>
    <dgm:pt modelId="{2D5656B5-7DD5-47F3-BF4F-F9E70779F01E}" type="pres">
      <dgm:prSet presAssocID="{CB7FBF00-422A-4317-B891-E8DD1AF28699}" presName="accent_4" presStyleCnt="0"/>
      <dgm:spPr/>
    </dgm:pt>
    <dgm:pt modelId="{E1605D9D-3A5D-4D28-96AF-0B7937DF44E5}" type="pres">
      <dgm:prSet presAssocID="{CB7FBF00-422A-4317-B891-E8DD1AF28699}" presName="accentRepeatNode" presStyleLbl="solidFgAcc1" presStyleIdx="3" presStyleCnt="5"/>
      <dgm:spPr/>
    </dgm:pt>
    <dgm:pt modelId="{B755B1AD-F095-4A02-B0AA-DBDB87E4264D}" type="pres">
      <dgm:prSet presAssocID="{798C6FD2-1E4F-49E2-849D-E41E5E8A5D85}" presName="text_5" presStyleLbl="node1" presStyleIdx="4" presStyleCnt="5">
        <dgm:presLayoutVars>
          <dgm:bulletEnabled val="1"/>
        </dgm:presLayoutVars>
      </dgm:prSet>
      <dgm:spPr/>
    </dgm:pt>
    <dgm:pt modelId="{16521487-4057-447C-9AA4-193BB9CE0A9B}" type="pres">
      <dgm:prSet presAssocID="{798C6FD2-1E4F-49E2-849D-E41E5E8A5D85}" presName="accent_5" presStyleCnt="0"/>
      <dgm:spPr/>
    </dgm:pt>
    <dgm:pt modelId="{0077D56F-DC62-4D28-8E57-2123A87A8301}" type="pres">
      <dgm:prSet presAssocID="{798C6FD2-1E4F-49E2-849D-E41E5E8A5D85}" presName="accentRepeatNode" presStyleLbl="solidFgAcc1" presStyleIdx="4" presStyleCnt="5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1F43E04E-C6FD-4B93-8232-8C7CAE753C7E}" type="presOf" srcId="{CB7FBF00-422A-4317-B891-E8DD1AF28699}" destId="{20B37385-1A26-47E7-A858-D56C8597648F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DF897FAA-F6BC-45E9-969C-D1B5AFAFDBE4}" type="presOf" srcId="{798C6FD2-1E4F-49E2-849D-E41E5E8A5D85}" destId="{B755B1AD-F095-4A02-B0AA-DBDB87E4264D}" srcOrd="0" destOrd="0" presId="urn:microsoft.com/office/officeart/2008/layout/VerticalCurvedList"/>
    <dgm:cxn modelId="{D8B979C0-D29D-4D73-9BC5-427F3ABA6E3C}" srcId="{7E5AA53B-3EEE-4DE4-BB81-9044890C2946}" destId="{798C6FD2-1E4F-49E2-849D-E41E5E8A5D85}" srcOrd="4" destOrd="0" parTransId="{2A259A07-05C7-4ABF-9497-06A23DAC291A}" sibTransId="{DC26FD2F-93B6-4A1C-8B76-D98BF45CF70D}"/>
    <dgm:cxn modelId="{0AF4D1C5-A6F7-42DD-A508-BFBDA25CDABE}" srcId="{7E5AA53B-3EEE-4DE4-BB81-9044890C2946}" destId="{CB7FBF00-422A-4317-B891-E8DD1AF28699}" srcOrd="3" destOrd="0" parTransId="{63A354B8-D587-4CE1-AAEF-7D831536B2AB}" sibTransId="{D9015B3D-0037-476C-BFFC-C20A6F79AA13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8E29AB98-2FF8-49B2-A456-1282E4015E55}" type="presParOf" srcId="{90561C55-3C6E-4D53-85E1-2C50BCDDA392}" destId="{20B37385-1A26-47E7-A858-D56C8597648F}" srcOrd="7" destOrd="0" presId="urn:microsoft.com/office/officeart/2008/layout/VerticalCurvedList"/>
    <dgm:cxn modelId="{3637BF49-D571-4221-8B3C-E50361A5F29E}" type="presParOf" srcId="{90561C55-3C6E-4D53-85E1-2C50BCDDA392}" destId="{2D5656B5-7DD5-47F3-BF4F-F9E70779F01E}" srcOrd="8" destOrd="0" presId="urn:microsoft.com/office/officeart/2008/layout/VerticalCurvedList"/>
    <dgm:cxn modelId="{81847564-632A-4557-9265-5BA0E54631F8}" type="presParOf" srcId="{2D5656B5-7DD5-47F3-BF4F-F9E70779F01E}" destId="{E1605D9D-3A5D-4D28-96AF-0B7937DF44E5}" srcOrd="0" destOrd="0" presId="urn:microsoft.com/office/officeart/2008/layout/VerticalCurvedList"/>
    <dgm:cxn modelId="{FB0F0B0A-F70B-40CB-B649-1ABA46AEBAAF}" type="presParOf" srcId="{90561C55-3C6E-4D53-85E1-2C50BCDDA392}" destId="{B755B1AD-F095-4A02-B0AA-DBDB87E4264D}" srcOrd="9" destOrd="0" presId="urn:microsoft.com/office/officeart/2008/layout/VerticalCurvedList"/>
    <dgm:cxn modelId="{A10FB967-6EFC-4B60-8431-33B528ABF7BD}" type="presParOf" srcId="{90561C55-3C6E-4D53-85E1-2C50BCDDA392}" destId="{16521487-4057-447C-9AA4-193BB9CE0A9B}" srcOrd="10" destOrd="0" presId="urn:microsoft.com/office/officeart/2008/layout/VerticalCurvedList"/>
    <dgm:cxn modelId="{CFCEAC1C-2C8A-4A92-BF83-2E565D6883E7}" type="presParOf" srcId="{16521487-4057-447C-9AA4-193BB9CE0A9B}" destId="{0077D56F-DC62-4D28-8E57-2123A87A830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Who is programmers?</a:t>
          </a:r>
          <a:endParaRPr lang="ko-KR" altLang="en-US" sz="1600" kern="1200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sp:txBody>
      <dsp:txXfrm>
        <a:off x="338329" y="222674"/>
        <a:ext cx="6468629" cy="445634"/>
      </dsp:txXfrm>
    </dsp:sp>
    <dsp:sp modelId="{07CB3071-D555-47DA-A36A-69EB91531FD8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657658" y="890913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How many types of programmers?</a:t>
          </a:r>
          <a:endParaRPr lang="ko-KR" altLang="en-US" sz="1600" kern="1200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sp:txBody>
      <dsp:txXfrm>
        <a:off x="657658" y="890913"/>
        <a:ext cx="6149301" cy="445634"/>
      </dsp:txXfrm>
    </dsp:sp>
    <dsp:sp modelId="{3F8116AC-FAC3-4E95-9865-93CCFEB191B9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What can they use?</a:t>
          </a:r>
          <a:endParaRPr lang="ko-KR" altLang="en-US" sz="1600" kern="1200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sp:txBody>
      <dsp:txXfrm>
        <a:off x="755666" y="1559151"/>
        <a:ext cx="6051292" cy="445634"/>
      </dsp:txXfrm>
    </dsp:sp>
    <dsp:sp modelId="{A965097E-32F1-4AB8-8C4E-2814A7596B2F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37385-1A26-47E7-A858-D56C8597648F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The advantages of coding</a:t>
          </a:r>
          <a:endParaRPr lang="ko-KR" altLang="en-US" sz="1600" kern="1200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sp:txBody>
      <dsp:txXfrm>
        <a:off x="657658" y="2227389"/>
        <a:ext cx="6149301" cy="445634"/>
      </dsp:txXfrm>
    </dsp:sp>
    <dsp:sp modelId="{E1605D9D-3A5D-4D28-96AF-0B7937DF44E5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5B1AD-F095-4A02-B0AA-DBDB87E4264D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40640" rIns="40640" bIns="4064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noProof="0" dirty="0">
              <a:latin typeface="Malgun Gothic" panose="020B0503020000020004" pitchFamily="50" charset="-127"/>
              <a:ea typeface="Malgun Gothic" panose="020B0503020000020004" pitchFamily="50" charset="-127"/>
            </a:rPr>
            <a:t>What I want to say</a:t>
          </a:r>
          <a:endParaRPr lang="ko-KR" altLang="en-US" sz="1600" kern="1200" noProof="0" dirty="0">
            <a:latin typeface="Malgun Gothic" panose="020B0503020000020004" pitchFamily="50" charset="-127"/>
            <a:ea typeface="Malgun Gothic" panose="020B0503020000020004" pitchFamily="50" charset="-127"/>
          </a:endParaRPr>
        </a:p>
      </dsp:txBody>
      <dsp:txXfrm>
        <a:off x="338329" y="2895628"/>
        <a:ext cx="6468629" cy="445634"/>
      </dsp:txXfrm>
    </dsp:sp>
    <dsp:sp modelId="{0077D56F-DC62-4D28-8E57-2123A87A8301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669E36E-728F-4B79-BBD6-A00C72EA8A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9115FF-53DF-4791-A127-8A6D32CD8E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554BE-3FCB-4F69-A327-C586C2A74082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C00E04-11B8-4819-BABD-0EB82B38F6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DD8B12-C8C8-4ECD-AD5A-280D228275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96A43-096E-47B8-B368-9AB51FCC2E7C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221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B9961-C215-41F5-A0B5-7820D242AC6A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B2D40-96F8-42D1-BD55-6FBF34373352}" type="slidenum">
              <a:rPr lang="en-US" altLang="ko-KR" noProof="0" smtClean="0"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298339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B2D40-96F8-42D1-BD55-6FBF34373352}" type="slidenum">
              <a:rPr lang="en-US" altLang="ko-KR" smtClean="0">
                <a:latin typeface="+mj-lt"/>
              </a:rPr>
              <a:t>1</a:t>
            </a:fld>
            <a:endParaRPr lang="ko-KR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442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B2D40-96F8-42D1-BD55-6FBF34373352}" type="slidenum">
              <a:rPr lang="en-US" altLang="ko-KR" smtClean="0">
                <a:latin typeface="+mj-lt"/>
              </a:rPr>
              <a:t>2</a:t>
            </a:fld>
            <a:endParaRPr lang="ko-KR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653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B2D40-96F8-42D1-BD55-6FBF34373352}" type="slidenum">
              <a:rPr lang="en-US" altLang="ko-KR" smtClean="0">
                <a:latin typeface="+mj-lt"/>
              </a:rPr>
              <a:t>3</a:t>
            </a:fld>
            <a:endParaRPr lang="ko-KR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4604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B2D40-96F8-42D1-BD55-6FBF34373352}" type="slidenum">
              <a:rPr lang="en-US" altLang="ko-KR" smtClean="0">
                <a:latin typeface="+mj-lt"/>
              </a:rPr>
              <a:t>10</a:t>
            </a:fld>
            <a:endParaRPr lang="ko-KR" alt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92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C44543-2BFD-4AE1-AE32-3659A5F0E5D9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A1194E-4288-47CB-8B4C-A21B2CB6B33B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7FF8FFD-7D68-4CDA-8308-797CB8372304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52FD10-54B3-4327-A3A7-68D22C5CF7F1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918A7-6F27-4F25-B815-4436B3BA0638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4844B8-0E7B-4DB4-9FA1-58B91043B0AF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51DE3E-2E2D-4228-9B94-5ADBB8A70A38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BF0545D-E114-48BE-9158-00DCA097ACF9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DE3CF6-AD98-47B5-8C0D-CCA5CAD218C8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00EF47-87EC-4523-B319-80FBE591EA04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FA57B83-0419-4AD5-B7E9-9BD8A99B09CE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2C34546-2ADC-4A0F-87D3-01F3E1CDBD76}" type="datetime1">
              <a:rPr lang="ko-KR" altLang="en-US" noProof="0" smtClean="0"/>
              <a:t>2022-05-10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9" name="직사각형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직사각형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직사각형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jpe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직사각형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 descr="디지털 연결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5000" dirty="0">
                <a:solidFill>
                  <a:schemeClr val="bg1"/>
                </a:solidFill>
              </a:rPr>
              <a:t>My dream job– programmer</a:t>
            </a:r>
            <a:endParaRPr lang="ko-KR" altLang="en-US" sz="50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solidFill>
                  <a:srgbClr val="7CEBFF"/>
                </a:solidFill>
              </a:rPr>
              <a:t>20904 </a:t>
            </a:r>
            <a:r>
              <a:rPr lang="ko-KR" altLang="en-US" dirty="0">
                <a:solidFill>
                  <a:srgbClr val="7CEBFF"/>
                </a:solidFill>
              </a:rPr>
              <a:t>김민서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직사각형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내용 개체 틀 4" descr="디지털 숫자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en-US" altLang="ko-KR" b="1" dirty="0"/>
              <a:t>Contents</a:t>
            </a:r>
            <a:endParaRPr lang="ko-KR" altLang="en-US" dirty="0"/>
          </a:p>
        </p:txBody>
      </p:sp>
      <p:graphicFrame>
        <p:nvGraphicFramePr>
          <p:cNvPr id="6" name="내용 개체 틀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115729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Who is programmer?</a:t>
            </a:r>
            <a:endParaRPr lang="ko-KR" altLang="en-US" dirty="0"/>
          </a:p>
        </p:txBody>
      </p:sp>
      <p:pic>
        <p:nvPicPr>
          <p:cNvPr id="1026" name="Picture 2" descr="코딩은 무엇인가요? – 잠자리컴퓨터학원">
            <a:extLst>
              <a:ext uri="{FF2B5EF4-FFF2-40B4-BE49-F238E27FC236}">
                <a16:creationId xmlns:a16="http://schemas.microsoft.com/office/drawing/2014/main" id="{BC77BBAB-99B4-4C87-AA44-D0FF3EF8C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56" y="2550691"/>
            <a:ext cx="3188369" cy="212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알고리즘 - 버블 정렬">
            <a:extLst>
              <a:ext uri="{FF2B5EF4-FFF2-40B4-BE49-F238E27FC236}">
                <a16:creationId xmlns:a16="http://schemas.microsoft.com/office/drawing/2014/main" id="{85CEBF54-FA23-430E-8E4F-630030C54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713" y="2550691"/>
            <a:ext cx="2976573" cy="212401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S &quot;중국 연계 해커들이 고객사 정보 탈취 시도&quot; : 네이트뉴스">
            <a:extLst>
              <a:ext uri="{FF2B5EF4-FFF2-40B4-BE49-F238E27FC236}">
                <a16:creationId xmlns:a16="http://schemas.microsoft.com/office/drawing/2014/main" id="{CBDEECE0-43C1-44F4-BD74-283819BD0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476" y="2550691"/>
            <a:ext cx="3227468" cy="212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DC8B3-69E8-4740-B1D9-85031A34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many types of programmers?</a:t>
            </a:r>
            <a:endParaRPr lang="ko-KR" altLang="en-US" dirty="0"/>
          </a:p>
        </p:txBody>
      </p:sp>
      <p:pic>
        <p:nvPicPr>
          <p:cNvPr id="2051" name="Picture 3" descr="HTTPS - 위키백과, 우리 모두의 백과사전">
            <a:extLst>
              <a:ext uri="{FF2B5EF4-FFF2-40B4-BE49-F238E27FC236}">
                <a16:creationId xmlns:a16="http://schemas.microsoft.com/office/drawing/2014/main" id="{DDFCEC38-6C0E-4BAD-A682-62D0CE436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94002"/>
            <a:ext cx="2101600" cy="169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안드로이드 - 해시넷">
            <a:extLst>
              <a:ext uri="{FF2B5EF4-FFF2-40B4-BE49-F238E27FC236}">
                <a16:creationId xmlns:a16="http://schemas.microsoft.com/office/drawing/2014/main" id="{B17F449A-39DB-4212-883F-8F4B260F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795" y="209400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Unity 실시간 개발 플랫폼 | 3D, 2D VR 및 AR 엔진">
            <a:extLst>
              <a:ext uri="{FF2B5EF4-FFF2-40B4-BE49-F238E27FC236}">
                <a16:creationId xmlns:a16="http://schemas.microsoft.com/office/drawing/2014/main" id="{2864BD11-81DA-4884-83B4-F5FCD97C4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795" y="2157320"/>
            <a:ext cx="3106904" cy="177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90,720 Network Server Photos Stock Photos, Pictures &amp; Royalty-Free Images -  iStock">
            <a:extLst>
              <a:ext uri="{FF2B5EF4-FFF2-40B4-BE49-F238E27FC236}">
                <a16:creationId xmlns:a16="http://schemas.microsoft.com/office/drawing/2014/main" id="{9FD5198A-77D4-43D9-B925-31AD14926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223" y="2157320"/>
            <a:ext cx="2379248" cy="158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White Hat Hacker - Roles and Responsibilities">
            <a:extLst>
              <a:ext uri="{FF2B5EF4-FFF2-40B4-BE49-F238E27FC236}">
                <a16:creationId xmlns:a16="http://schemas.microsoft.com/office/drawing/2014/main" id="{EA036960-4E8D-41F6-A301-B9D4B9C2E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884" y="4622450"/>
            <a:ext cx="2719582" cy="152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특집] 인공지능 기술 #AI랑산다 | | LiVE LG - LG전자 소셜 매거진">
            <a:extLst>
              <a:ext uri="{FF2B5EF4-FFF2-40B4-BE49-F238E27FC236}">
                <a16:creationId xmlns:a16="http://schemas.microsoft.com/office/drawing/2014/main" id="{5F112E3C-ED97-42F6-AEB6-ED55A464B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503" y="4460282"/>
            <a:ext cx="3790688" cy="196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민코딩 - 왕초보부터 고수까지, 프로그래밍 알고리즘 훈련소">
            <a:extLst>
              <a:ext uri="{FF2B5EF4-FFF2-40B4-BE49-F238E27FC236}">
                <a16:creationId xmlns:a16="http://schemas.microsoft.com/office/drawing/2014/main" id="{0EC195FF-38CD-45AB-90C5-F5A2C8EC0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248150"/>
            <a:ext cx="28575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68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2" name="Picture 60" descr="Programming/Scala' 카테고리의 글 목록">
            <a:extLst>
              <a:ext uri="{FF2B5EF4-FFF2-40B4-BE49-F238E27FC236}">
                <a16:creationId xmlns:a16="http://schemas.microsoft.com/office/drawing/2014/main" id="{9B8196F1-A4B1-4332-85BC-E1EDCA6E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824" y="4843191"/>
            <a:ext cx="1381146" cy="138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B902C6-298F-40FA-A089-34754747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languages can programmers use?</a:t>
            </a:r>
            <a:endParaRPr lang="ko-KR" altLang="en-US" dirty="0"/>
          </a:p>
        </p:txBody>
      </p:sp>
      <p:pic>
        <p:nvPicPr>
          <p:cNvPr id="3076" name="Picture 4" descr="c] - 42서울을 위한 C공부 - 식빵 포인터 !">
            <a:extLst>
              <a:ext uri="{FF2B5EF4-FFF2-40B4-BE49-F238E27FC236}">
                <a16:creationId xmlns:a16="http://schemas.microsoft.com/office/drawing/2014/main" id="{0DC1C6DE-510D-488A-A3BB-E19B35D54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361" y="3610317"/>
            <a:ext cx="1734153" cy="173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++ - 위키백과, 우리 모두의 백과사전">
            <a:extLst>
              <a:ext uri="{FF2B5EF4-FFF2-40B4-BE49-F238E27FC236}">
                <a16:creationId xmlns:a16="http://schemas.microsoft.com/office/drawing/2014/main" id="{DBC6260C-A2ED-46A9-8623-6706B0D83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16" y="4760696"/>
            <a:ext cx="784589" cy="88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#에 대한 모든 특징, The features of C#">
            <a:extLst>
              <a:ext uri="{FF2B5EF4-FFF2-40B4-BE49-F238E27FC236}">
                <a16:creationId xmlns:a16="http://schemas.microsoft.com/office/drawing/2014/main" id="{0545F2DC-A21E-401F-B3C2-BA59E04B82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5" r="21985"/>
          <a:stretch/>
        </p:blipFill>
        <p:spPr bwMode="auto">
          <a:xfrm>
            <a:off x="5779207" y="4667890"/>
            <a:ext cx="1589952" cy="159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자바(JAVA) 기초 강좌 - #0 개발환경 설정">
            <a:extLst>
              <a:ext uri="{FF2B5EF4-FFF2-40B4-BE49-F238E27FC236}">
                <a16:creationId xmlns:a16="http://schemas.microsoft.com/office/drawing/2014/main" id="{A1ED4F90-B8F4-4D00-A47C-0902251867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2" r="32582"/>
          <a:stretch/>
        </p:blipFill>
        <p:spPr bwMode="auto">
          <a:xfrm>
            <a:off x="1523250" y="2139653"/>
            <a:ext cx="1283868" cy="184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파이썬의 기초 (개발환경 세팅, 문법)">
            <a:extLst>
              <a:ext uri="{FF2B5EF4-FFF2-40B4-BE49-F238E27FC236}">
                <a16:creationId xmlns:a16="http://schemas.microsoft.com/office/drawing/2014/main" id="{5901E9E1-AF66-428B-A363-4DB61A771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4" r="24244"/>
          <a:stretch/>
        </p:blipFill>
        <p:spPr bwMode="auto">
          <a:xfrm>
            <a:off x="417022" y="3094307"/>
            <a:ext cx="1253378" cy="136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예제로 배우는 Go 프로그래밍">
            <a:extLst>
              <a:ext uri="{FF2B5EF4-FFF2-40B4-BE49-F238E27FC236}">
                <a16:creationId xmlns:a16="http://schemas.microsoft.com/office/drawing/2014/main" id="{4DAC2EA4-B73C-4CF3-B09F-3DB44CABA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867" y="3982341"/>
            <a:ext cx="1087251" cy="148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Javascript ] Javascript 기본 이론">
            <a:extLst>
              <a:ext uri="{FF2B5EF4-FFF2-40B4-BE49-F238E27FC236}">
                <a16:creationId xmlns:a16="http://schemas.microsoft.com/office/drawing/2014/main" id="{829A9371-B5A3-424F-B721-9A3C0FF46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560" y="2296388"/>
            <a:ext cx="2060799" cy="115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코틀린 (프로그래밍 언어) - 위키백과, 우리 모두의 백과사전">
            <a:extLst>
              <a:ext uri="{FF2B5EF4-FFF2-40B4-BE49-F238E27FC236}">
                <a16:creationId xmlns:a16="http://schemas.microsoft.com/office/drawing/2014/main" id="{7D03174C-9DDD-4D44-B52D-7DBA95075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36" y="3484351"/>
            <a:ext cx="1102019" cy="110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HTML5 - 위키백과, 우리 모두의 백과사전">
            <a:extLst>
              <a:ext uri="{FF2B5EF4-FFF2-40B4-BE49-F238E27FC236}">
                <a16:creationId xmlns:a16="http://schemas.microsoft.com/office/drawing/2014/main" id="{5F6FF52F-0BAA-4212-A59C-394089812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609" y="4908883"/>
            <a:ext cx="1315453" cy="131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CSS - 위키백과, 우리 모두의 백과사전">
            <a:extLst>
              <a:ext uri="{FF2B5EF4-FFF2-40B4-BE49-F238E27FC236}">
                <a16:creationId xmlns:a16="http://schemas.microsoft.com/office/drawing/2014/main" id="{DCC1B1DF-E051-4E61-A66F-BF739C310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471" y="2389057"/>
            <a:ext cx="905356" cy="127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PHP - 위키백과, 우리 모두의 백과사전">
            <a:extLst>
              <a:ext uri="{FF2B5EF4-FFF2-40B4-BE49-F238E27FC236}">
                <a16:creationId xmlns:a16="http://schemas.microsoft.com/office/drawing/2014/main" id="{55A0EA25-64C2-469E-8B40-8756B04D3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345" y="5303920"/>
            <a:ext cx="1704474" cy="92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6" descr="타입스크립트 - 위키백과, 우리 모두의 백과사전">
            <a:extLst>
              <a:ext uri="{FF2B5EF4-FFF2-40B4-BE49-F238E27FC236}">
                <a16:creationId xmlns:a16="http://schemas.microsoft.com/office/drawing/2014/main" id="{DF20907B-D6C9-49EB-920F-8F0C298E7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102" name="Picture 30" descr="파일:Typescript logo 2020.svg - 위키백과, 우리 모두의 백과사전">
            <a:extLst>
              <a:ext uri="{FF2B5EF4-FFF2-40B4-BE49-F238E27FC236}">
                <a16:creationId xmlns:a16="http://schemas.microsoft.com/office/drawing/2014/main" id="{22F8B2F7-F907-4C3C-82AD-68C0D06D2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16" y="2389057"/>
            <a:ext cx="683488" cy="68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32" descr="브런치북] 플러터를 위한 다트 언어">
            <a:extLst>
              <a:ext uri="{FF2B5EF4-FFF2-40B4-BE49-F238E27FC236}">
                <a16:creationId xmlns:a16="http://schemas.microsoft.com/office/drawing/2014/main" id="{F2EB4894-2F1B-4837-A923-41F74F16E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63" y="2350920"/>
            <a:ext cx="1315453" cy="131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 descr="파일:.NET Logo.svg - 위키백과, 우리 모두의 백과사전">
            <a:extLst>
              <a:ext uri="{FF2B5EF4-FFF2-40B4-BE49-F238E27FC236}">
                <a16:creationId xmlns:a16="http://schemas.microsoft.com/office/drawing/2014/main" id="{712092D0-50CD-450E-A37D-A4615AD9A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199" y="5659220"/>
            <a:ext cx="622565" cy="62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R (프로그래밍 언어) - 위키백과, 우리 모두의 백과사전">
            <a:extLst>
              <a:ext uri="{FF2B5EF4-FFF2-40B4-BE49-F238E27FC236}">
                <a16:creationId xmlns:a16="http://schemas.microsoft.com/office/drawing/2014/main" id="{DFDEC504-BF21-4816-9770-DA38B4824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20" y="3901917"/>
            <a:ext cx="905976" cy="7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38" descr="MATLAB - 위키백과, 우리 모두의 백과사전">
            <a:extLst>
              <a:ext uri="{FF2B5EF4-FFF2-40B4-BE49-F238E27FC236}">
                <a16:creationId xmlns:a16="http://schemas.microsoft.com/office/drawing/2014/main" id="{575AC64F-3EB6-4924-8157-E57BB13C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956" y="2474235"/>
            <a:ext cx="1150676" cy="103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Swift - Apple Developer">
            <a:extLst>
              <a:ext uri="{FF2B5EF4-FFF2-40B4-BE49-F238E27FC236}">
                <a16:creationId xmlns:a16="http://schemas.microsoft.com/office/drawing/2014/main" id="{B8CF8A1B-36B8-4875-A52A-1CB3B311D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542" y="3799863"/>
            <a:ext cx="804210" cy="80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4" name="Picture 42" descr="러스트 (프로그래밍 언어) - 위키백과, 우리 모두의 백과사전">
            <a:extLst>
              <a:ext uri="{FF2B5EF4-FFF2-40B4-BE49-F238E27FC236}">
                <a16:creationId xmlns:a16="http://schemas.microsoft.com/office/drawing/2014/main" id="{9A6FF983-7A35-49F9-AA1A-CED19280D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821" y="2452751"/>
            <a:ext cx="1216492" cy="121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The Ruby Programming Language · GitHub">
            <a:extLst>
              <a:ext uri="{FF2B5EF4-FFF2-40B4-BE49-F238E27FC236}">
                <a16:creationId xmlns:a16="http://schemas.microsoft.com/office/drawing/2014/main" id="{2E832F48-6DB6-4A54-AFC5-847570B1D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22" y="5763718"/>
            <a:ext cx="622565" cy="62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8" name="Picture 46" descr="Objective-C (r110 판) - 나무위키">
            <a:extLst>
              <a:ext uri="{FF2B5EF4-FFF2-40B4-BE49-F238E27FC236}">
                <a16:creationId xmlns:a16="http://schemas.microsoft.com/office/drawing/2014/main" id="{58BBAD75-6CAF-42D5-8808-DA16B7076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964" y="4800800"/>
            <a:ext cx="883202" cy="75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0" name="Picture 48" descr="Visual Basic .NET - Wikipedia">
            <a:extLst>
              <a:ext uri="{FF2B5EF4-FFF2-40B4-BE49-F238E27FC236}">
                <a16:creationId xmlns:a16="http://schemas.microsoft.com/office/drawing/2014/main" id="{0FF912BE-7AA1-4233-8F2B-E4E4292E6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717" y="5413368"/>
            <a:ext cx="700700" cy="7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4" name="Picture 52" descr="에이다 (프로그래밍 언어) - 위키백과, 우리 모두의 백과사전">
            <a:extLst>
              <a:ext uri="{FF2B5EF4-FFF2-40B4-BE49-F238E27FC236}">
                <a16:creationId xmlns:a16="http://schemas.microsoft.com/office/drawing/2014/main" id="{9566F543-1713-4D22-A20F-8FD219B87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060" y="3665258"/>
            <a:ext cx="924185" cy="100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6" name="Picture 54" descr="Archivo:Cebolla Chulita.png - Wikipedia, la enciclopedia libre">
            <a:extLst>
              <a:ext uri="{FF2B5EF4-FFF2-40B4-BE49-F238E27FC236}">
                <a16:creationId xmlns:a16="http://schemas.microsoft.com/office/drawing/2014/main" id="{DCAD5746-5C4D-4A7A-9847-7B0DA1D45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502" y="2443254"/>
            <a:ext cx="1087251" cy="108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8" name="Picture 56" descr="분류 전체보기' 카테고리의 글 목록 (32 Page)">
            <a:extLst>
              <a:ext uri="{FF2B5EF4-FFF2-40B4-BE49-F238E27FC236}">
                <a16:creationId xmlns:a16="http://schemas.microsoft.com/office/drawing/2014/main" id="{D2845389-01A6-4417-8A22-2E085C367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055" y="4370923"/>
            <a:ext cx="1517860" cy="150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0" name="Picture 58" descr="MySQL Service 사용법">
            <a:extLst>
              <a:ext uri="{FF2B5EF4-FFF2-40B4-BE49-F238E27FC236}">
                <a16:creationId xmlns:a16="http://schemas.microsoft.com/office/drawing/2014/main" id="{B2AAFB9C-9549-4F59-995A-096612FB0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4972" y="3657637"/>
            <a:ext cx="1523575" cy="78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2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36F18-0A7F-4D5A-9332-8A2281BB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can they use?</a:t>
            </a:r>
            <a:endParaRPr lang="ko-KR" altLang="en-US" dirty="0"/>
          </a:p>
        </p:txBody>
      </p:sp>
      <p:pic>
        <p:nvPicPr>
          <p:cNvPr id="4098" name="Picture 2" descr="마이크로소프트 비주얼 스튜디오 - 위키백과, 우리 모두의 백과사전">
            <a:extLst>
              <a:ext uri="{FF2B5EF4-FFF2-40B4-BE49-F238E27FC236}">
                <a16:creationId xmlns:a16="http://schemas.microsoft.com/office/drawing/2014/main" id="{F72999EC-9197-465C-9F41-CC5EF8F8A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58" y="2141621"/>
            <a:ext cx="2029326" cy="202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Visual Studio Code (@code) | Twitter">
            <a:extLst>
              <a:ext uri="{FF2B5EF4-FFF2-40B4-BE49-F238E27FC236}">
                <a16:creationId xmlns:a16="http://schemas.microsoft.com/office/drawing/2014/main" id="{064277EE-E0E4-4ADF-AF43-744A8E04A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57" y="4170946"/>
            <a:ext cx="1913021" cy="191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VIM] 더 효율적인 프로그래머가 되자! — Coder38611">
            <a:extLst>
              <a:ext uri="{FF2B5EF4-FFF2-40B4-BE49-F238E27FC236}">
                <a16:creationId xmlns:a16="http://schemas.microsoft.com/office/drawing/2014/main" id="{EF71F230-0458-46CE-91D6-C2BE6D807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238" y="4596612"/>
            <a:ext cx="1603458" cy="160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Eclipse IDE을 위한 Windows - Uptodown에서 무료로 다운로드하세요">
            <a:extLst>
              <a:ext uri="{FF2B5EF4-FFF2-40B4-BE49-F238E27FC236}">
                <a16:creationId xmlns:a16="http://schemas.microsoft.com/office/drawing/2014/main" id="{948FDC9A-1123-4776-8665-A2F9A45BA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647" y="220378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Unity 실시간 개발 플랫폼 | 3D, 2D VR 및 AR 엔진">
            <a:extLst>
              <a:ext uri="{FF2B5EF4-FFF2-40B4-BE49-F238E27FC236}">
                <a16:creationId xmlns:a16="http://schemas.microsoft.com/office/drawing/2014/main" id="{194CEAF5-E41E-4912-B8A7-71B3B866D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147" y="4980026"/>
            <a:ext cx="2806709" cy="160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언리얼 엔진 - 위키백과, 우리 모두의 백과사전">
            <a:extLst>
              <a:ext uri="{FF2B5EF4-FFF2-40B4-BE49-F238E27FC236}">
                <a16:creationId xmlns:a16="http://schemas.microsoft.com/office/drawing/2014/main" id="{70556C5D-EDA5-45F2-AAB3-D16AED4EA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932" y="2716567"/>
            <a:ext cx="2408490" cy="262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SUPER ATOM ::: Web Creator">
            <a:extLst>
              <a:ext uri="{FF2B5EF4-FFF2-40B4-BE49-F238E27FC236}">
                <a16:creationId xmlns:a16="http://schemas.microsoft.com/office/drawing/2014/main" id="{E5E9E63A-C0AA-41CF-9AAD-4B76D7858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204" y="4760231"/>
            <a:ext cx="1616503" cy="161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File:GNU-Nano-Logo.png - Wikimedia Commons">
            <a:extLst>
              <a:ext uri="{FF2B5EF4-FFF2-40B4-BE49-F238E27FC236}">
                <a16:creationId xmlns:a16="http://schemas.microsoft.com/office/drawing/2014/main" id="{9B1A9F3C-4D52-42DF-9A94-AC9D58AF1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734" y="2530188"/>
            <a:ext cx="2059536" cy="206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Spring] Spring Framework란? 기본 개념 핵심 정리">
            <a:extLst>
              <a:ext uri="{FF2B5EF4-FFF2-40B4-BE49-F238E27FC236}">
                <a16:creationId xmlns:a16="http://schemas.microsoft.com/office/drawing/2014/main" id="{EED41E9F-8A48-483F-8E75-A8491B03E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707" y="3156284"/>
            <a:ext cx="2482625" cy="173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RStudio | Open source &amp; professional software for data science teams -  RStudio">
            <a:extLst>
              <a:ext uri="{FF2B5EF4-FFF2-40B4-BE49-F238E27FC236}">
                <a16:creationId xmlns:a16="http://schemas.microsoft.com/office/drawing/2014/main" id="{2FBEF549-DEDB-4CF3-8CDD-49B314FDC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802" y="5449730"/>
            <a:ext cx="2012160" cy="70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77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1B565-66FF-4203-A1AE-007120EE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advantages of coding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04ECEA-9FC1-459E-819E-04D2ADF88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altLang="ko-KR" sz="2000" dirty="0"/>
              <a:t>Lots of things you can try</a:t>
            </a:r>
          </a:p>
          <a:p>
            <a:endParaRPr lang="en-US" altLang="ko-KR" sz="2000" dirty="0"/>
          </a:p>
          <a:p>
            <a:r>
              <a:rPr lang="en-US" altLang="ko-KR" sz="2000" dirty="0"/>
              <a:t>Help to think logically</a:t>
            </a:r>
          </a:p>
          <a:p>
            <a:endParaRPr lang="en-US" altLang="ko-KR" sz="2000" dirty="0"/>
          </a:p>
          <a:p>
            <a:r>
              <a:rPr lang="en-US" altLang="ko-KR" sz="2000" dirty="0"/>
              <a:t>Make things easier with computers</a:t>
            </a:r>
          </a:p>
          <a:p>
            <a:endParaRPr lang="en-US" altLang="ko-KR" sz="2000" dirty="0"/>
          </a:p>
          <a:p>
            <a:r>
              <a:rPr lang="en-US" altLang="ko-KR" sz="2000" dirty="0"/>
              <a:t>Create what you imagine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87458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9A39E39-CEA5-4D4D-806A-B07F378D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</a:t>
            </a:r>
            <a:r>
              <a:rPr lang="en-US" altLang="ko-KR" dirty="0" err="1"/>
              <a:t>i</a:t>
            </a:r>
            <a:r>
              <a:rPr lang="en-US" altLang="ko-KR" dirty="0"/>
              <a:t> want to say is ……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8540B3-0DBE-4320-824B-990D9969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dirty="0"/>
              <a:t>How about trying coding? </a:t>
            </a:r>
          </a:p>
          <a:p>
            <a:pPr marL="0" indent="0">
              <a:buNone/>
            </a:pPr>
            <a:r>
              <a:rPr lang="en-US" altLang="ko-KR" sz="3000" dirty="0"/>
              <a:t>It could be interesting for you!!!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494605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F239A2-BD88-481B-A6D5-FEF56480D922}"/>
              </a:ext>
            </a:extLst>
          </p:cNvPr>
          <p:cNvSpPr/>
          <p:nvPr/>
        </p:nvSpPr>
        <p:spPr>
          <a:xfrm>
            <a:off x="489285" y="2550693"/>
            <a:ext cx="110850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https://github.com/ggace?tab=repositories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49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직사각형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 descr="디지털 숫자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solidFill>
                  <a:srgbClr val="FFFFFF"/>
                </a:solidFill>
              </a:rPr>
              <a:t>Thanks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ko-KR" altLang="en-US" dirty="0">
              <a:solidFill>
                <a:schemeClr val="bg2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분할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기술 분할 디자인</Template>
  <TotalTime>0</TotalTime>
  <Words>111</Words>
  <Application>Microsoft Office PowerPoint</Application>
  <PresentationFormat>와이드스크린</PresentationFormat>
  <Paragraphs>29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맑은 고딕</vt:lpstr>
      <vt:lpstr>맑은 고딕</vt:lpstr>
      <vt:lpstr>휴먼매직체</vt:lpstr>
      <vt:lpstr>Arial</vt:lpstr>
      <vt:lpstr>Gill Sans MT</vt:lpstr>
      <vt:lpstr>Wingdings 2</vt:lpstr>
      <vt:lpstr>분할</vt:lpstr>
      <vt:lpstr>My dream job– programmer</vt:lpstr>
      <vt:lpstr>Contents</vt:lpstr>
      <vt:lpstr>Who is programmer?</vt:lpstr>
      <vt:lpstr>How many types of programmers?</vt:lpstr>
      <vt:lpstr>What languages can programmers use?</vt:lpstr>
      <vt:lpstr>What can they use?</vt:lpstr>
      <vt:lpstr>the advantages of coding</vt:lpstr>
      <vt:lpstr>What i want to say is ……</vt:lpstr>
      <vt:lpstr>PowerPoint 프레젠테이션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2022-05-10T07:32:04Z</dcterms:created>
  <dcterms:modified xsi:type="dcterms:W3CDTF">2022-05-10T09:48:21Z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